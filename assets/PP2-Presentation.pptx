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ormorant Garamond Bold Italics" charset="1" panose="00000800000000000000"/>
      <p:regular r:id="rId13"/>
    </p:embeddedFont>
    <p:embeddedFont>
      <p:font typeface="Quicksand" charset="1" panose="00000000000000000000"/>
      <p:regular r:id="rId14"/>
    </p:embeddedFont>
    <p:embeddedFont>
      <p:font typeface="Quicksand Bold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23.jpeg" Type="http://schemas.openxmlformats.org/officeDocument/2006/relationships/image"/><Relationship Id="rId4" Target="../media/image24.jpe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2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618706" y="90374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46742" y="8078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43764" y="2478342"/>
            <a:ext cx="16229942" cy="318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9"/>
              </a:lnSpc>
              <a:spcBef>
                <a:spcPct val="0"/>
              </a:spcBef>
            </a:pPr>
            <a:r>
              <a:rPr lang="en-US" b="true" sz="18577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Agile Sense 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7600" y="5937050"/>
            <a:ext cx="15786715" cy="1726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04"/>
              </a:lnSpc>
              <a:spcBef>
                <a:spcPct val="0"/>
              </a:spcBef>
            </a:pPr>
            <a:r>
              <a:rPr lang="en-US" sz="328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EMOTION-AWARE AGILE SYSTEM FOR PROGRESS TRACKING, EXPERTISE RECOMMENDATION, REQUIREMENT MANAGEMENT AND INCLUSIVE COMMUNICATION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22179" y="1967581"/>
            <a:ext cx="11643643" cy="52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97"/>
              </a:lnSpc>
              <a:spcBef>
                <a:spcPct val="0"/>
              </a:spcBef>
            </a:pPr>
            <a:r>
              <a:rPr lang="en-US" sz="314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Prepared by 25-26J-525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38910" y="2522296"/>
            <a:ext cx="7775082" cy="5414284"/>
          </a:xfrm>
          <a:custGeom>
            <a:avLst/>
            <a:gdLst/>
            <a:ahLst/>
            <a:cxnLst/>
            <a:rect r="r" b="b" t="t" l="l"/>
            <a:pathLst>
              <a:path h="5414284" w="7775082">
                <a:moveTo>
                  <a:pt x="0" y="0"/>
                </a:moveTo>
                <a:lnTo>
                  <a:pt x="7775082" y="0"/>
                </a:lnTo>
                <a:lnTo>
                  <a:pt x="7775082" y="5414284"/>
                </a:lnTo>
                <a:lnTo>
                  <a:pt x="0" y="5414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528307" y="5314702"/>
            <a:ext cx="305896" cy="30589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9248" y="4789157"/>
            <a:ext cx="305896" cy="30589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869248" y="1657651"/>
            <a:ext cx="305896" cy="30589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80692" y="1572387"/>
            <a:ext cx="305896" cy="30589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336258" y="7040829"/>
            <a:ext cx="601804" cy="791847"/>
          </a:xfrm>
          <a:custGeom>
            <a:avLst/>
            <a:gdLst/>
            <a:ahLst/>
            <a:cxnLst/>
            <a:rect r="r" b="b" t="t" l="l"/>
            <a:pathLst>
              <a:path h="791847" w="601804">
                <a:moveTo>
                  <a:pt x="0" y="0"/>
                </a:moveTo>
                <a:lnTo>
                  <a:pt x="601803" y="0"/>
                </a:lnTo>
                <a:lnTo>
                  <a:pt x="601803" y="791847"/>
                </a:lnTo>
                <a:lnTo>
                  <a:pt x="0" y="7918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470980" y="2643746"/>
            <a:ext cx="769988" cy="706989"/>
          </a:xfrm>
          <a:custGeom>
            <a:avLst/>
            <a:gdLst/>
            <a:ahLst/>
            <a:cxnLst/>
            <a:rect r="r" b="b" t="t" l="l"/>
            <a:pathLst>
              <a:path h="706989" w="769988">
                <a:moveTo>
                  <a:pt x="0" y="0"/>
                </a:moveTo>
                <a:lnTo>
                  <a:pt x="769989" y="0"/>
                </a:lnTo>
                <a:lnTo>
                  <a:pt x="769989" y="706989"/>
                </a:lnTo>
                <a:lnTo>
                  <a:pt x="0" y="7069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765402" y="7040829"/>
            <a:ext cx="687573" cy="791847"/>
          </a:xfrm>
          <a:custGeom>
            <a:avLst/>
            <a:gdLst/>
            <a:ahLst/>
            <a:cxnLst/>
            <a:rect r="r" b="b" t="t" l="l"/>
            <a:pathLst>
              <a:path h="791847" w="687573">
                <a:moveTo>
                  <a:pt x="0" y="0"/>
                </a:moveTo>
                <a:lnTo>
                  <a:pt x="687574" y="0"/>
                </a:lnTo>
                <a:lnTo>
                  <a:pt x="687574" y="791847"/>
                </a:lnTo>
                <a:lnTo>
                  <a:pt x="0" y="7918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453563" y="2643746"/>
            <a:ext cx="649742" cy="649742"/>
          </a:xfrm>
          <a:custGeom>
            <a:avLst/>
            <a:gdLst/>
            <a:ahLst/>
            <a:cxnLst/>
            <a:rect r="r" b="b" t="t" l="l"/>
            <a:pathLst>
              <a:path h="649742" w="649742">
                <a:moveTo>
                  <a:pt x="0" y="0"/>
                </a:moveTo>
                <a:lnTo>
                  <a:pt x="649743" y="0"/>
                </a:lnTo>
                <a:lnTo>
                  <a:pt x="649743" y="649742"/>
                </a:lnTo>
                <a:lnTo>
                  <a:pt x="0" y="6497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58753" y="174625"/>
            <a:ext cx="15535397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Problem Statement &amp; Stakeholders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2491" y="4732007"/>
            <a:ext cx="2764255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Observed Issues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0" y="5132692"/>
            <a:ext cx="5254831" cy="467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No Emotion Insight: Teams cannot understand meeting dynamics or team morale.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Requirement Changes: Mid-sprint changes make planning and delivery unpredictable.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Skill Mismatch: Tasks are not always assigned to the most suitable developers.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Poor Brainstorming: Ideas are often unstructured and not everyone gets a chance to contribute.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0712" y="2095022"/>
            <a:ext cx="5459141" cy="2334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Domain: Agile Software Development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Workflow: Sprint and task management using Jira or Trello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Collaboration: Team communication and meetings through Microsoft Teams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328292" y="2095022"/>
            <a:ext cx="4808202" cy="272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</a:t>
            </a:r>
            <a:r>
              <a:rPr lang="en-US" sz="2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imary Users: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Scrum Masters, Developers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Secondary Users: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Product Owners, QA Engineers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Decision Makers: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Engineering Managers, CTOs, Project Directors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213992" y="5913742"/>
            <a:ext cx="4922502" cy="311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Time: Missed sprint deadlines and longer meetings.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Cost: Wasted resources due to poor task distribution.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Risk: Developer burnout and lower software quality.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Output: Reduced collaboration and team productivity.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27600" y="1557869"/>
            <a:ext cx="142701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Context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91548" y="1515237"/>
            <a:ext cx="3167752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Stakehold</a:t>
            </a:r>
            <a:r>
              <a:rPr lang="en-US" b="true" sz="25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ers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48517" y="5172288"/>
            <a:ext cx="3167752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Impact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48708" y="1292585"/>
            <a:ext cx="1862915" cy="2524879"/>
            <a:chOff x="0" y="0"/>
            <a:chExt cx="2483887" cy="3366506"/>
          </a:xfrm>
        </p:grpSpPr>
        <p:sp>
          <p:nvSpPr>
            <p:cNvPr name="AutoShape 3" id="3"/>
            <p:cNvSpPr/>
            <p:nvPr/>
          </p:nvSpPr>
          <p:spPr>
            <a:xfrm>
              <a:off x="31479" y="436664"/>
              <a:ext cx="1818028" cy="2700091"/>
            </a:xfrm>
            <a:prstGeom prst="line">
              <a:avLst/>
            </a:prstGeom>
            <a:ln cap="flat" w="63500">
              <a:solidFill>
                <a:srgbClr val="0F4662"/>
              </a:solidFill>
              <a:prstDash val="sysDot"/>
              <a:headEnd type="none" len="sm" w="sm"/>
              <a:tailEnd type="triangle" len="med" w="lg"/>
            </a:ln>
          </p:spPr>
        </p:sp>
        <p:grpSp>
          <p:nvGrpSpPr>
            <p:cNvPr name="Group 4" id="4"/>
            <p:cNvGrpSpPr/>
            <p:nvPr/>
          </p:nvGrpSpPr>
          <p:grpSpPr>
            <a:xfrm rot="-10800000">
              <a:off x="1537047" y="2884562"/>
              <a:ext cx="624919" cy="481944"/>
              <a:chOff x="0" y="0"/>
              <a:chExt cx="922188" cy="7112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75415" y="89768"/>
                <a:ext cx="771359" cy="621432"/>
              </a:xfrm>
              <a:custGeom>
                <a:avLst/>
                <a:gdLst/>
                <a:ahLst/>
                <a:cxnLst/>
                <a:rect r="r" b="b" t="t" l="l"/>
                <a:pathLst>
                  <a:path h="621432" w="771359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607A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6"/>
                  </a:lnSpc>
                </a:pPr>
              </a:p>
            </p:txBody>
          </p:sp>
        </p:grpSp>
      </p:grpSp>
      <p:grpSp>
        <p:nvGrpSpPr>
          <p:cNvPr name="Group 7" id="7"/>
          <p:cNvGrpSpPr/>
          <p:nvPr/>
        </p:nvGrpSpPr>
        <p:grpSpPr>
          <a:xfrm rot="0">
            <a:off x="9231579" y="6553882"/>
            <a:ext cx="2007871" cy="2506665"/>
            <a:chOff x="0" y="0"/>
            <a:chExt cx="2677161" cy="3342220"/>
          </a:xfrm>
        </p:grpSpPr>
        <p:sp>
          <p:nvSpPr>
            <p:cNvPr name="AutoShape 8" id="8"/>
            <p:cNvSpPr/>
            <p:nvPr/>
          </p:nvSpPr>
          <p:spPr>
            <a:xfrm flipH="true" flipV="true">
              <a:off x="614458" y="147948"/>
              <a:ext cx="2031013" cy="2729768"/>
            </a:xfrm>
            <a:prstGeom prst="line">
              <a:avLst/>
            </a:prstGeom>
            <a:ln cap="flat" w="63500">
              <a:solidFill>
                <a:srgbClr val="0F4662"/>
              </a:solidFill>
              <a:prstDash val="sysDot"/>
              <a:headEnd type="none" len="sm" w="sm"/>
              <a:tailEnd type="triangle" len="med" w="lg"/>
            </a:ln>
          </p:spPr>
        </p:sp>
        <p:grpSp>
          <p:nvGrpSpPr>
            <p:cNvPr name="Group 9" id="9"/>
            <p:cNvGrpSpPr/>
            <p:nvPr/>
          </p:nvGrpSpPr>
          <p:grpSpPr>
            <a:xfrm rot="0">
              <a:off x="295340" y="0"/>
              <a:ext cx="624919" cy="481944"/>
              <a:chOff x="0" y="0"/>
              <a:chExt cx="922188" cy="7112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75415" y="89768"/>
                <a:ext cx="771359" cy="621432"/>
              </a:xfrm>
              <a:custGeom>
                <a:avLst/>
                <a:gdLst/>
                <a:ahLst/>
                <a:cxnLst/>
                <a:rect r="r" b="b" t="t" l="l"/>
                <a:pathLst>
                  <a:path h="621432" w="771359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607A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6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5492349" y="5837484"/>
            <a:ext cx="2015499" cy="692586"/>
            <a:chOff x="0" y="0"/>
            <a:chExt cx="2687332" cy="923448"/>
          </a:xfrm>
        </p:grpSpPr>
        <p:sp>
          <p:nvSpPr>
            <p:cNvPr name="AutoShape 13" id="13"/>
            <p:cNvSpPr/>
            <p:nvPr/>
          </p:nvSpPr>
          <p:spPr>
            <a:xfrm>
              <a:off x="18858" y="383698"/>
              <a:ext cx="2285160" cy="0"/>
            </a:xfrm>
            <a:prstGeom prst="line">
              <a:avLst/>
            </a:prstGeom>
            <a:ln cap="flat" w="63500">
              <a:solidFill>
                <a:srgbClr val="0F4662"/>
              </a:solidFill>
              <a:prstDash val="sysDot"/>
              <a:headEnd type="none" len="sm" w="sm"/>
              <a:tailEnd type="triangle" len="med" w="lg"/>
            </a:ln>
          </p:spPr>
        </p:sp>
        <p:grpSp>
          <p:nvGrpSpPr>
            <p:cNvPr name="Group 14" id="14"/>
            <p:cNvGrpSpPr/>
            <p:nvPr/>
          </p:nvGrpSpPr>
          <p:grpSpPr>
            <a:xfrm rot="3079347">
              <a:off x="1991484" y="153550"/>
              <a:ext cx="624919" cy="481944"/>
              <a:chOff x="0" y="0"/>
              <a:chExt cx="922188" cy="7112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75415" y="89768"/>
                <a:ext cx="771359" cy="621432"/>
              </a:xfrm>
              <a:custGeom>
                <a:avLst/>
                <a:gdLst/>
                <a:ahLst/>
                <a:cxnLst/>
                <a:rect r="r" b="b" t="t" l="l"/>
                <a:pathLst>
                  <a:path h="621432" w="771359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93AFB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6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10833195" y="3898671"/>
            <a:ext cx="1981411" cy="687726"/>
            <a:chOff x="0" y="0"/>
            <a:chExt cx="2641881" cy="916967"/>
          </a:xfrm>
        </p:grpSpPr>
        <p:sp>
          <p:nvSpPr>
            <p:cNvPr name="AutoShape 18" id="18"/>
            <p:cNvSpPr/>
            <p:nvPr/>
          </p:nvSpPr>
          <p:spPr>
            <a:xfrm flipH="true">
              <a:off x="337862" y="539749"/>
              <a:ext cx="2285160" cy="0"/>
            </a:xfrm>
            <a:prstGeom prst="line">
              <a:avLst/>
            </a:prstGeom>
            <a:ln cap="flat" w="63500">
              <a:solidFill>
                <a:srgbClr val="0F4662"/>
              </a:solidFill>
              <a:prstDash val="sysDot"/>
              <a:headEnd type="none" len="sm" w="sm"/>
              <a:tailEnd type="triangle" len="med" w="lg"/>
            </a:ln>
          </p:spPr>
        </p:sp>
        <p:grpSp>
          <p:nvGrpSpPr>
            <p:cNvPr name="Group 19" id="19"/>
            <p:cNvGrpSpPr/>
            <p:nvPr/>
          </p:nvGrpSpPr>
          <p:grpSpPr>
            <a:xfrm rot="-7720652">
              <a:off x="70929" y="281474"/>
              <a:ext cx="624919" cy="481944"/>
              <a:chOff x="0" y="0"/>
              <a:chExt cx="922188" cy="7112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75415" y="89768"/>
                <a:ext cx="771359" cy="621432"/>
              </a:xfrm>
              <a:custGeom>
                <a:avLst/>
                <a:gdLst/>
                <a:ahLst/>
                <a:cxnLst/>
                <a:rect r="r" b="b" t="t" l="l"/>
                <a:pathLst>
                  <a:path h="621432" w="771359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93AFB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6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7050100" y="6553882"/>
            <a:ext cx="1856888" cy="2480980"/>
            <a:chOff x="0" y="0"/>
            <a:chExt cx="2475851" cy="3307973"/>
          </a:xfrm>
        </p:grpSpPr>
        <p:sp>
          <p:nvSpPr>
            <p:cNvPr name="AutoShape 23" id="23"/>
            <p:cNvSpPr/>
            <p:nvPr/>
          </p:nvSpPr>
          <p:spPr>
            <a:xfrm flipV="true">
              <a:off x="34751" y="147948"/>
              <a:ext cx="1812899" cy="2729768"/>
            </a:xfrm>
            <a:prstGeom prst="line">
              <a:avLst/>
            </a:prstGeom>
            <a:ln cap="flat" w="63500">
              <a:solidFill>
                <a:srgbClr val="0F4662"/>
              </a:solidFill>
              <a:prstDash val="sysDot"/>
              <a:headEnd type="none" len="sm" w="sm"/>
              <a:tailEnd type="triangle" len="med" w="lg"/>
            </a:ln>
          </p:spPr>
        </p:sp>
        <p:grpSp>
          <p:nvGrpSpPr>
            <p:cNvPr name="Group 24" id="24"/>
            <p:cNvGrpSpPr/>
            <p:nvPr/>
          </p:nvGrpSpPr>
          <p:grpSpPr>
            <a:xfrm rot="0">
              <a:off x="1535191" y="0"/>
              <a:ext cx="624919" cy="481944"/>
              <a:chOff x="0" y="0"/>
              <a:chExt cx="922188" cy="7112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75415" y="89768"/>
                <a:ext cx="771359" cy="621432"/>
              </a:xfrm>
              <a:custGeom>
                <a:avLst/>
                <a:gdLst/>
                <a:ahLst/>
                <a:cxnLst/>
                <a:rect r="r" b="b" t="t" l="l"/>
                <a:pathLst>
                  <a:path h="621432" w="771359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2E5E7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6"/>
                  </a:lnSpc>
                </a:pP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0">
            <a:off x="10881785" y="5758888"/>
            <a:ext cx="1921123" cy="1006689"/>
            <a:chOff x="0" y="0"/>
            <a:chExt cx="2561497" cy="1342252"/>
          </a:xfrm>
        </p:grpSpPr>
        <p:sp>
          <p:nvSpPr>
            <p:cNvPr name="AutoShape 28" id="28"/>
            <p:cNvSpPr/>
            <p:nvPr/>
          </p:nvSpPr>
          <p:spPr>
            <a:xfrm flipH="true" flipV="true">
              <a:off x="333749" y="298215"/>
              <a:ext cx="2204709" cy="517551"/>
            </a:xfrm>
            <a:prstGeom prst="line">
              <a:avLst/>
            </a:prstGeom>
            <a:ln cap="flat" w="60295">
              <a:solidFill>
                <a:srgbClr val="0F4662"/>
              </a:solidFill>
              <a:prstDash val="sysDot"/>
              <a:headEnd type="none" len="sm" w="sm"/>
              <a:tailEnd type="triangle" len="med" w="lg"/>
            </a:ln>
          </p:spPr>
        </p:sp>
        <p:grpSp>
          <p:nvGrpSpPr>
            <p:cNvPr name="Group 29" id="29"/>
            <p:cNvGrpSpPr/>
            <p:nvPr/>
          </p:nvGrpSpPr>
          <p:grpSpPr>
            <a:xfrm rot="-2700000">
              <a:off x="74895" y="142775"/>
              <a:ext cx="593382" cy="457622"/>
              <a:chOff x="0" y="0"/>
              <a:chExt cx="922188" cy="7112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75415" y="89768"/>
                <a:ext cx="771359" cy="621432"/>
              </a:xfrm>
              <a:custGeom>
                <a:avLst/>
                <a:gdLst/>
                <a:ahLst/>
                <a:cxnLst/>
                <a:rect r="r" b="b" t="t" l="l"/>
                <a:pathLst>
                  <a:path h="621432" w="771359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2E5E7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6"/>
                  </a:lnSpc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0">
            <a:off x="466142" y="3058383"/>
            <a:ext cx="5185998" cy="1821289"/>
            <a:chOff x="0" y="0"/>
            <a:chExt cx="1365860" cy="47968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65860" cy="479681"/>
            </a:xfrm>
            <a:custGeom>
              <a:avLst/>
              <a:gdLst/>
              <a:ahLst/>
              <a:cxnLst/>
              <a:rect r="r" b="b" t="t" l="l"/>
              <a:pathLst>
                <a:path h="479681" w="1365860">
                  <a:moveTo>
                    <a:pt x="149285" y="0"/>
                  </a:moveTo>
                  <a:lnTo>
                    <a:pt x="1216575" y="0"/>
                  </a:lnTo>
                  <a:cubicBezTo>
                    <a:pt x="1299022" y="0"/>
                    <a:pt x="1365860" y="66837"/>
                    <a:pt x="1365860" y="149285"/>
                  </a:cubicBezTo>
                  <a:lnTo>
                    <a:pt x="1365860" y="330396"/>
                  </a:lnTo>
                  <a:cubicBezTo>
                    <a:pt x="1365860" y="412844"/>
                    <a:pt x="1299022" y="479681"/>
                    <a:pt x="1216575" y="479681"/>
                  </a:cubicBezTo>
                  <a:lnTo>
                    <a:pt x="149285" y="479681"/>
                  </a:lnTo>
                  <a:cubicBezTo>
                    <a:pt x="66837" y="479681"/>
                    <a:pt x="0" y="412844"/>
                    <a:pt x="0" y="330396"/>
                  </a:cubicBezTo>
                  <a:lnTo>
                    <a:pt x="0" y="149285"/>
                  </a:lnTo>
                  <a:cubicBezTo>
                    <a:pt x="0" y="66837"/>
                    <a:pt x="66837" y="0"/>
                    <a:pt x="149285" y="0"/>
                  </a:cubicBezTo>
                  <a:close/>
                </a:path>
              </a:pathLst>
            </a:custGeom>
            <a:solidFill>
              <a:srgbClr val="93AFBB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365860" cy="52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635860" y="3058383"/>
            <a:ext cx="5185998" cy="1821289"/>
            <a:chOff x="0" y="0"/>
            <a:chExt cx="1365860" cy="47968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65860" cy="479681"/>
            </a:xfrm>
            <a:custGeom>
              <a:avLst/>
              <a:gdLst/>
              <a:ahLst/>
              <a:cxnLst/>
              <a:rect r="r" b="b" t="t" l="l"/>
              <a:pathLst>
                <a:path h="479681" w="1365860">
                  <a:moveTo>
                    <a:pt x="149285" y="0"/>
                  </a:moveTo>
                  <a:lnTo>
                    <a:pt x="1216575" y="0"/>
                  </a:lnTo>
                  <a:cubicBezTo>
                    <a:pt x="1299022" y="0"/>
                    <a:pt x="1365860" y="66837"/>
                    <a:pt x="1365860" y="149285"/>
                  </a:cubicBezTo>
                  <a:lnTo>
                    <a:pt x="1365860" y="330396"/>
                  </a:lnTo>
                  <a:cubicBezTo>
                    <a:pt x="1365860" y="412844"/>
                    <a:pt x="1299022" y="479681"/>
                    <a:pt x="1216575" y="479681"/>
                  </a:cubicBezTo>
                  <a:lnTo>
                    <a:pt x="149285" y="479681"/>
                  </a:lnTo>
                  <a:cubicBezTo>
                    <a:pt x="66837" y="479681"/>
                    <a:pt x="0" y="412844"/>
                    <a:pt x="0" y="330396"/>
                  </a:cubicBezTo>
                  <a:lnTo>
                    <a:pt x="0" y="149285"/>
                  </a:lnTo>
                  <a:cubicBezTo>
                    <a:pt x="0" y="66837"/>
                    <a:pt x="66837" y="0"/>
                    <a:pt x="149285" y="0"/>
                  </a:cubicBez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365860" cy="52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07692" y="3438247"/>
            <a:ext cx="1061561" cy="106156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5E7B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077410" y="3438247"/>
            <a:ext cx="1061561" cy="1061561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3AFBB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66142" y="5407328"/>
            <a:ext cx="5185998" cy="1821289"/>
            <a:chOff x="0" y="0"/>
            <a:chExt cx="1365860" cy="47968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65860" cy="479681"/>
            </a:xfrm>
            <a:custGeom>
              <a:avLst/>
              <a:gdLst/>
              <a:ahLst/>
              <a:cxnLst/>
              <a:rect r="r" b="b" t="t" l="l"/>
              <a:pathLst>
                <a:path h="479681" w="1365860">
                  <a:moveTo>
                    <a:pt x="149285" y="0"/>
                  </a:moveTo>
                  <a:lnTo>
                    <a:pt x="1216575" y="0"/>
                  </a:lnTo>
                  <a:cubicBezTo>
                    <a:pt x="1299022" y="0"/>
                    <a:pt x="1365860" y="66837"/>
                    <a:pt x="1365860" y="149285"/>
                  </a:cubicBezTo>
                  <a:lnTo>
                    <a:pt x="1365860" y="330396"/>
                  </a:lnTo>
                  <a:cubicBezTo>
                    <a:pt x="1365860" y="412844"/>
                    <a:pt x="1299022" y="479681"/>
                    <a:pt x="1216575" y="479681"/>
                  </a:cubicBezTo>
                  <a:lnTo>
                    <a:pt x="149285" y="479681"/>
                  </a:lnTo>
                  <a:cubicBezTo>
                    <a:pt x="66837" y="479681"/>
                    <a:pt x="0" y="412844"/>
                    <a:pt x="0" y="330396"/>
                  </a:cubicBezTo>
                  <a:lnTo>
                    <a:pt x="0" y="149285"/>
                  </a:lnTo>
                  <a:cubicBezTo>
                    <a:pt x="0" y="66837"/>
                    <a:pt x="66837" y="0"/>
                    <a:pt x="149285" y="0"/>
                  </a:cubicBez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365860" cy="52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635860" y="5407328"/>
            <a:ext cx="5185998" cy="1821289"/>
            <a:chOff x="0" y="0"/>
            <a:chExt cx="1365860" cy="47968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65860" cy="479681"/>
            </a:xfrm>
            <a:custGeom>
              <a:avLst/>
              <a:gdLst/>
              <a:ahLst/>
              <a:cxnLst/>
              <a:rect r="r" b="b" t="t" l="l"/>
              <a:pathLst>
                <a:path h="479681" w="1365860">
                  <a:moveTo>
                    <a:pt x="149285" y="0"/>
                  </a:moveTo>
                  <a:lnTo>
                    <a:pt x="1216575" y="0"/>
                  </a:lnTo>
                  <a:cubicBezTo>
                    <a:pt x="1299022" y="0"/>
                    <a:pt x="1365860" y="66837"/>
                    <a:pt x="1365860" y="149285"/>
                  </a:cubicBezTo>
                  <a:lnTo>
                    <a:pt x="1365860" y="330396"/>
                  </a:lnTo>
                  <a:cubicBezTo>
                    <a:pt x="1365860" y="412844"/>
                    <a:pt x="1299022" y="479681"/>
                    <a:pt x="1216575" y="479681"/>
                  </a:cubicBezTo>
                  <a:lnTo>
                    <a:pt x="149285" y="479681"/>
                  </a:lnTo>
                  <a:cubicBezTo>
                    <a:pt x="66837" y="479681"/>
                    <a:pt x="0" y="412844"/>
                    <a:pt x="0" y="330396"/>
                  </a:cubicBezTo>
                  <a:lnTo>
                    <a:pt x="0" y="149285"/>
                  </a:lnTo>
                  <a:cubicBezTo>
                    <a:pt x="0" y="66837"/>
                    <a:pt x="66837" y="0"/>
                    <a:pt x="149285" y="0"/>
                  </a:cubicBezTo>
                  <a:close/>
                </a:path>
              </a:pathLst>
            </a:custGeom>
            <a:solidFill>
              <a:srgbClr val="93AFBB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365860" cy="52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07692" y="5787192"/>
            <a:ext cx="1061561" cy="1061561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3AFBB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077410" y="5787192"/>
            <a:ext cx="1061561" cy="1061561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5E7B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804753" y="709439"/>
            <a:ext cx="5269487" cy="1821289"/>
            <a:chOff x="0" y="0"/>
            <a:chExt cx="1387848" cy="47968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87848" cy="479681"/>
            </a:xfrm>
            <a:custGeom>
              <a:avLst/>
              <a:gdLst/>
              <a:ahLst/>
              <a:cxnLst/>
              <a:rect r="r" b="b" t="t" l="l"/>
              <a:pathLst>
                <a:path h="479681" w="1387848">
                  <a:moveTo>
                    <a:pt x="146920" y="0"/>
                  </a:moveTo>
                  <a:lnTo>
                    <a:pt x="1240929" y="0"/>
                  </a:lnTo>
                  <a:cubicBezTo>
                    <a:pt x="1279894" y="0"/>
                    <a:pt x="1317264" y="15479"/>
                    <a:pt x="1344817" y="43032"/>
                  </a:cubicBezTo>
                  <a:cubicBezTo>
                    <a:pt x="1372369" y="70585"/>
                    <a:pt x="1387848" y="107954"/>
                    <a:pt x="1387848" y="146920"/>
                  </a:cubicBezTo>
                  <a:lnTo>
                    <a:pt x="1387848" y="332761"/>
                  </a:lnTo>
                  <a:cubicBezTo>
                    <a:pt x="1387848" y="413903"/>
                    <a:pt x="1322070" y="479681"/>
                    <a:pt x="1240929" y="479681"/>
                  </a:cubicBezTo>
                  <a:lnTo>
                    <a:pt x="146920" y="479681"/>
                  </a:lnTo>
                  <a:cubicBezTo>
                    <a:pt x="65778" y="479681"/>
                    <a:pt x="0" y="413903"/>
                    <a:pt x="0" y="332761"/>
                  </a:cubicBezTo>
                  <a:lnTo>
                    <a:pt x="0" y="146920"/>
                  </a:lnTo>
                  <a:cubicBezTo>
                    <a:pt x="0" y="65778"/>
                    <a:pt x="65778" y="0"/>
                    <a:pt x="146920" y="0"/>
                  </a:cubicBezTo>
                  <a:close/>
                </a:path>
              </a:pathLst>
            </a:custGeom>
            <a:solidFill>
              <a:srgbClr val="93AFBB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387848" cy="52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237587" y="1274385"/>
            <a:ext cx="2000503" cy="2543079"/>
            <a:chOff x="0" y="0"/>
            <a:chExt cx="2667337" cy="3390773"/>
          </a:xfrm>
        </p:grpSpPr>
        <p:sp>
          <p:nvSpPr>
            <p:cNvPr name="AutoShape 60" id="60"/>
            <p:cNvSpPr/>
            <p:nvPr/>
          </p:nvSpPr>
          <p:spPr>
            <a:xfrm flipH="true">
              <a:off x="606448" y="460931"/>
              <a:ext cx="2025885" cy="2729768"/>
            </a:xfrm>
            <a:prstGeom prst="line">
              <a:avLst/>
            </a:prstGeom>
            <a:ln cap="flat" w="63500">
              <a:solidFill>
                <a:srgbClr val="0F4662"/>
              </a:solidFill>
              <a:prstDash val="sysDot"/>
              <a:headEnd type="none" len="sm" w="sm"/>
              <a:tailEnd type="triangle" len="med" w="lg"/>
            </a:ln>
          </p:spPr>
        </p:sp>
        <p:grpSp>
          <p:nvGrpSpPr>
            <p:cNvPr name="Group 61" id="61"/>
            <p:cNvGrpSpPr/>
            <p:nvPr/>
          </p:nvGrpSpPr>
          <p:grpSpPr>
            <a:xfrm rot="-10800000">
              <a:off x="287331" y="2908829"/>
              <a:ext cx="624919" cy="481944"/>
              <a:chOff x="0" y="0"/>
              <a:chExt cx="922188" cy="7112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75415" y="89768"/>
                <a:ext cx="771359" cy="621432"/>
              </a:xfrm>
              <a:custGeom>
                <a:avLst/>
                <a:gdLst/>
                <a:ahLst/>
                <a:cxnLst/>
                <a:rect r="r" b="b" t="t" l="l"/>
                <a:pathLst>
                  <a:path h="621432" w="771359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2E5E7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6"/>
                  </a:lnSpc>
                </a:pPr>
              </a:p>
            </p:txBody>
          </p:sp>
        </p:grpSp>
      </p:grpSp>
      <p:grpSp>
        <p:nvGrpSpPr>
          <p:cNvPr name="Group 64" id="64"/>
          <p:cNvGrpSpPr/>
          <p:nvPr/>
        </p:nvGrpSpPr>
        <p:grpSpPr>
          <a:xfrm rot="0">
            <a:off x="11213760" y="709439"/>
            <a:ext cx="5185998" cy="1821289"/>
            <a:chOff x="0" y="0"/>
            <a:chExt cx="1365860" cy="47968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365860" cy="479681"/>
            </a:xfrm>
            <a:custGeom>
              <a:avLst/>
              <a:gdLst/>
              <a:ahLst/>
              <a:cxnLst/>
              <a:rect r="r" b="b" t="t" l="l"/>
              <a:pathLst>
                <a:path h="479681" w="1365860">
                  <a:moveTo>
                    <a:pt x="149285" y="0"/>
                  </a:moveTo>
                  <a:lnTo>
                    <a:pt x="1216575" y="0"/>
                  </a:lnTo>
                  <a:cubicBezTo>
                    <a:pt x="1299022" y="0"/>
                    <a:pt x="1365860" y="66837"/>
                    <a:pt x="1365860" y="149285"/>
                  </a:cubicBezTo>
                  <a:lnTo>
                    <a:pt x="1365860" y="330396"/>
                  </a:lnTo>
                  <a:cubicBezTo>
                    <a:pt x="1365860" y="412844"/>
                    <a:pt x="1299022" y="479681"/>
                    <a:pt x="1216575" y="479681"/>
                  </a:cubicBezTo>
                  <a:lnTo>
                    <a:pt x="149285" y="479681"/>
                  </a:lnTo>
                  <a:cubicBezTo>
                    <a:pt x="66837" y="479681"/>
                    <a:pt x="0" y="412844"/>
                    <a:pt x="0" y="330396"/>
                  </a:cubicBezTo>
                  <a:lnTo>
                    <a:pt x="0" y="149285"/>
                  </a:lnTo>
                  <a:cubicBezTo>
                    <a:pt x="0" y="66837"/>
                    <a:pt x="66837" y="0"/>
                    <a:pt x="149285" y="0"/>
                  </a:cubicBezTo>
                  <a:close/>
                </a:path>
              </a:pathLst>
            </a:custGeom>
            <a:solidFill>
              <a:srgbClr val="93AFBB"/>
            </a:solidFill>
            <a:ln cap="rnd">
              <a:noFill/>
              <a:prstDash val="solid"/>
              <a:round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1365860" cy="52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2329792" y="1089303"/>
            <a:ext cx="1061561" cy="1061561"/>
            <a:chOff x="0" y="0"/>
            <a:chExt cx="812800" cy="812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07A86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655310" y="1089303"/>
            <a:ext cx="1061561" cy="1061561"/>
            <a:chOff x="0" y="0"/>
            <a:chExt cx="812800" cy="8128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5E7B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11793052" y="1242265"/>
            <a:ext cx="759319" cy="67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29"/>
              </a:lnSpc>
            </a:pPr>
            <a:r>
              <a:rPr lang="en-US" b="true" sz="3949">
                <a:solidFill>
                  <a:srgbClr val="F8F8F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05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1888242" y="7756273"/>
            <a:ext cx="5185998" cy="1821289"/>
            <a:chOff x="0" y="0"/>
            <a:chExt cx="1365860" cy="47968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365860" cy="479681"/>
            </a:xfrm>
            <a:custGeom>
              <a:avLst/>
              <a:gdLst/>
              <a:ahLst/>
              <a:cxnLst/>
              <a:rect r="r" b="b" t="t" l="l"/>
              <a:pathLst>
                <a:path h="479681" w="1365860">
                  <a:moveTo>
                    <a:pt x="149285" y="0"/>
                  </a:moveTo>
                  <a:lnTo>
                    <a:pt x="1216575" y="0"/>
                  </a:lnTo>
                  <a:cubicBezTo>
                    <a:pt x="1299022" y="0"/>
                    <a:pt x="1365860" y="66837"/>
                    <a:pt x="1365860" y="149285"/>
                  </a:cubicBezTo>
                  <a:lnTo>
                    <a:pt x="1365860" y="330396"/>
                  </a:lnTo>
                  <a:cubicBezTo>
                    <a:pt x="1365860" y="412844"/>
                    <a:pt x="1299022" y="479681"/>
                    <a:pt x="1216575" y="479681"/>
                  </a:cubicBezTo>
                  <a:lnTo>
                    <a:pt x="149285" y="479681"/>
                  </a:lnTo>
                  <a:cubicBezTo>
                    <a:pt x="66837" y="479681"/>
                    <a:pt x="0" y="412844"/>
                    <a:pt x="0" y="330396"/>
                  </a:cubicBezTo>
                  <a:lnTo>
                    <a:pt x="0" y="149285"/>
                  </a:lnTo>
                  <a:cubicBezTo>
                    <a:pt x="0" y="66837"/>
                    <a:pt x="66837" y="0"/>
                    <a:pt x="149285" y="0"/>
                  </a:cubicBezTo>
                  <a:close/>
                </a:path>
              </a:pathLst>
            </a:custGeom>
            <a:solidFill>
              <a:srgbClr val="93AFBB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1365860" cy="52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1213760" y="7756273"/>
            <a:ext cx="5538448" cy="1821289"/>
            <a:chOff x="0" y="0"/>
            <a:chExt cx="1458686" cy="47968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458686" cy="479681"/>
            </a:xfrm>
            <a:custGeom>
              <a:avLst/>
              <a:gdLst/>
              <a:ahLst/>
              <a:cxnLst/>
              <a:rect r="r" b="b" t="t" l="l"/>
              <a:pathLst>
                <a:path h="479681" w="1458686">
                  <a:moveTo>
                    <a:pt x="139785" y="0"/>
                  </a:moveTo>
                  <a:lnTo>
                    <a:pt x="1318901" y="0"/>
                  </a:lnTo>
                  <a:cubicBezTo>
                    <a:pt x="1355974" y="0"/>
                    <a:pt x="1391529" y="14727"/>
                    <a:pt x="1417744" y="40942"/>
                  </a:cubicBezTo>
                  <a:cubicBezTo>
                    <a:pt x="1443959" y="67157"/>
                    <a:pt x="1458686" y="102712"/>
                    <a:pt x="1458686" y="139785"/>
                  </a:cubicBezTo>
                  <a:lnTo>
                    <a:pt x="1458686" y="339896"/>
                  </a:lnTo>
                  <a:cubicBezTo>
                    <a:pt x="1458686" y="417097"/>
                    <a:pt x="1396102" y="479681"/>
                    <a:pt x="1318901" y="479681"/>
                  </a:cubicBezTo>
                  <a:lnTo>
                    <a:pt x="139785" y="479681"/>
                  </a:lnTo>
                  <a:cubicBezTo>
                    <a:pt x="102712" y="479681"/>
                    <a:pt x="67157" y="464954"/>
                    <a:pt x="40942" y="438739"/>
                  </a:cubicBezTo>
                  <a:cubicBezTo>
                    <a:pt x="14727" y="412524"/>
                    <a:pt x="0" y="376969"/>
                    <a:pt x="0" y="339896"/>
                  </a:cubicBezTo>
                  <a:lnTo>
                    <a:pt x="0" y="139785"/>
                  </a:lnTo>
                  <a:cubicBezTo>
                    <a:pt x="0" y="102712"/>
                    <a:pt x="14727" y="67157"/>
                    <a:pt x="40942" y="40942"/>
                  </a:cubicBezTo>
                  <a:cubicBezTo>
                    <a:pt x="67157" y="14727"/>
                    <a:pt x="102712" y="0"/>
                    <a:pt x="139785" y="0"/>
                  </a:cubicBezTo>
                  <a:close/>
                </a:path>
              </a:pathLst>
            </a:custGeom>
            <a:solidFill>
              <a:srgbClr val="93AFBB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1458686" cy="52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2329792" y="8136137"/>
            <a:ext cx="1061561" cy="1061561"/>
            <a:chOff x="0" y="0"/>
            <a:chExt cx="812800" cy="8128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5E7B"/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655310" y="8136137"/>
            <a:ext cx="1061561" cy="1061561"/>
            <a:chOff x="0" y="0"/>
            <a:chExt cx="812800" cy="8128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07A86"/>
            </a:solidFill>
          </p:spPr>
        </p:sp>
        <p:sp>
          <p:nvSpPr>
            <p:cNvPr name="TextBox 85" id="8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86" id="86"/>
          <p:cNvSpPr txBox="true"/>
          <p:nvPr/>
        </p:nvSpPr>
        <p:spPr>
          <a:xfrm rot="0">
            <a:off x="1045434" y="3591209"/>
            <a:ext cx="759319" cy="67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29"/>
              </a:lnSpc>
            </a:pPr>
            <a:r>
              <a:rPr lang="en-US" b="true" sz="3949">
                <a:solidFill>
                  <a:srgbClr val="F8F8F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02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3215152" y="3591209"/>
            <a:ext cx="759319" cy="67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29"/>
              </a:lnSpc>
            </a:pPr>
            <a:r>
              <a:rPr lang="en-US" b="true" sz="3949">
                <a:solidFill>
                  <a:srgbClr val="F8F8F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06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717780" y="3161975"/>
            <a:ext cx="3568568" cy="39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Sprint Replanning Gap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3974471" y="3161975"/>
            <a:ext cx="3728083" cy="39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Sprint Impact Prediction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2016667" y="3515663"/>
            <a:ext cx="3424082" cy="116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b="true" sz="15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Cur</a:t>
            </a:r>
            <a:r>
              <a:rPr lang="en-US" b="true" sz="15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rent tools like Jira do not predict the impact of requirement changes during a sprint or suggest how to replan work.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4249682" y="3597526"/>
            <a:ext cx="3298680" cy="116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b="true" sz="15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</a:t>
            </a:r>
            <a:r>
              <a:rPr lang="en-US" b="true" sz="15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redict risks and impacts of requirement changes during a sprint to support better replanning.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045434" y="5940154"/>
            <a:ext cx="759319" cy="67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29"/>
              </a:lnSpc>
            </a:pPr>
            <a:r>
              <a:rPr lang="en-US" b="true" sz="3949">
                <a:solidFill>
                  <a:srgbClr val="F8F8F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03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3215152" y="5940154"/>
            <a:ext cx="759319" cy="67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29"/>
              </a:lnSpc>
            </a:pPr>
            <a:r>
              <a:rPr lang="en-US" b="true" sz="3949">
                <a:solidFill>
                  <a:srgbClr val="F8F8F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07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714173" y="5410546"/>
            <a:ext cx="3572176" cy="39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Expe</a:t>
            </a:r>
            <a:r>
              <a:rPr lang="en-US" b="true" sz="22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rtise Allocation Gap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3594811" y="5388411"/>
            <a:ext cx="4038318" cy="39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Exp</a:t>
            </a:r>
            <a:r>
              <a:rPr lang="en-US" b="true" sz="22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ertise Recommendation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2079369" y="5885527"/>
            <a:ext cx="3298680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b="true" sz="15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Task</a:t>
            </a:r>
            <a:r>
              <a:rPr lang="en-US" b="true" sz="15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assignments are mostly manual and not based on developer skills or expertise.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4253271" y="5885527"/>
            <a:ext cx="3298680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b="true" sz="15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Rec</a:t>
            </a:r>
            <a:r>
              <a:rPr lang="en-US" b="true" sz="15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ommend the most suitable developer for each task based on skills and experience.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2467534" y="1242265"/>
            <a:ext cx="759319" cy="67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29"/>
              </a:lnSpc>
            </a:pPr>
            <a:r>
              <a:rPr lang="en-US" b="true" sz="3949">
                <a:solidFill>
                  <a:srgbClr val="F8F8F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01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3150694" y="780732"/>
            <a:ext cx="3546643" cy="39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Emotion Awar</a:t>
            </a:r>
            <a:r>
              <a:rPr lang="en-US" b="true" sz="22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eness Gap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2616364" y="690522"/>
            <a:ext cx="3045212" cy="39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Emot</a:t>
            </a:r>
            <a:r>
              <a:rPr lang="en-US" b="true" sz="22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ion Intelligence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3502064" y="1204818"/>
            <a:ext cx="3298680" cy="116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b="true" sz="15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Platf</a:t>
            </a:r>
            <a:r>
              <a:rPr lang="en-US" b="true" sz="15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orms like Microsoft Teams host team meetings but lack the ability to understand team emotions or meeting dynamics.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2827583" y="1248581"/>
            <a:ext cx="3298680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b="true" sz="15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Analyze </a:t>
            </a:r>
            <a:r>
              <a:rPr lang="en-US" b="true" sz="15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real-time team emotions and meeting dynamics during virtual meetings.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2467534" y="8289099"/>
            <a:ext cx="759319" cy="67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29"/>
              </a:lnSpc>
            </a:pPr>
            <a:r>
              <a:rPr lang="en-US" b="true" sz="3949">
                <a:solidFill>
                  <a:srgbClr val="F8F8F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04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1793052" y="8289099"/>
            <a:ext cx="759319" cy="67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29"/>
              </a:lnSpc>
            </a:pPr>
            <a:r>
              <a:rPr lang="en-US" b="true" sz="3949">
                <a:solidFill>
                  <a:srgbClr val="F8F8F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08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3391352" y="7737356"/>
            <a:ext cx="3045212" cy="39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</a:t>
            </a:r>
            <a:r>
              <a:rPr lang="en-US" b="true" sz="22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ollaboration Gap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2363282" y="7809642"/>
            <a:ext cx="4036476" cy="39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</a:t>
            </a:r>
            <a:r>
              <a:rPr lang="en-US" b="true" sz="22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llaborative Brainstorming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3502064" y="8212337"/>
            <a:ext cx="3298680" cy="116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b="true" sz="15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</a:t>
            </a:r>
            <a:r>
              <a:rPr lang="en-US" b="true" sz="15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rainstorming sessions are unstructured and lack intelligent support to organize and refine ideas.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2827583" y="8295415"/>
            <a:ext cx="3298680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b="true" sz="15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</a:t>
            </a:r>
            <a:r>
              <a:rPr lang="en-US" b="true" sz="15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upport structured and inclusive idea generation to improve team collaboration.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6918112" y="4566483"/>
            <a:ext cx="4893326" cy="1518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03"/>
              </a:lnSpc>
            </a:pPr>
            <a:r>
              <a:rPr lang="en-US" b="true" sz="556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</a:t>
            </a:r>
            <a:r>
              <a:rPr lang="en-US" b="true" sz="556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esearch Gap &amp; Objectives</a:t>
            </a:r>
          </a:p>
        </p:txBody>
      </p:sp>
      <p:grpSp>
        <p:nvGrpSpPr>
          <p:cNvPr name="Group 110" id="110"/>
          <p:cNvGrpSpPr/>
          <p:nvPr/>
        </p:nvGrpSpPr>
        <p:grpSpPr>
          <a:xfrm rot="0">
            <a:off x="5504047" y="3663164"/>
            <a:ext cx="2057316" cy="1055333"/>
            <a:chOff x="0" y="0"/>
            <a:chExt cx="2743089" cy="1407111"/>
          </a:xfrm>
        </p:grpSpPr>
        <p:sp>
          <p:nvSpPr>
            <p:cNvPr name="AutoShape 111" id="111"/>
            <p:cNvSpPr/>
            <p:nvPr/>
          </p:nvSpPr>
          <p:spPr>
            <a:xfrm>
              <a:off x="24263" y="554468"/>
              <a:ext cx="2321887" cy="545058"/>
            </a:xfrm>
            <a:prstGeom prst="line">
              <a:avLst/>
            </a:prstGeom>
            <a:ln cap="flat" w="63500">
              <a:solidFill>
                <a:srgbClr val="0F4662"/>
              </a:solidFill>
              <a:prstDash val="sysDot"/>
              <a:headEnd type="none" len="sm" w="sm"/>
              <a:tailEnd type="triangle" len="med" w="lg"/>
            </a:ln>
          </p:spPr>
        </p:sp>
        <p:grpSp>
          <p:nvGrpSpPr>
            <p:cNvPr name="Group 112" id="112"/>
            <p:cNvGrpSpPr/>
            <p:nvPr/>
          </p:nvGrpSpPr>
          <p:grpSpPr>
            <a:xfrm rot="8100000">
              <a:off x="2039294" y="774804"/>
              <a:ext cx="624919" cy="481944"/>
              <a:chOff x="0" y="0"/>
              <a:chExt cx="922188" cy="711200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75415" y="89768"/>
                <a:ext cx="771359" cy="621432"/>
              </a:xfrm>
              <a:custGeom>
                <a:avLst/>
                <a:gdLst/>
                <a:ahLst/>
                <a:cxnLst/>
                <a:rect r="r" b="b" t="t" l="l"/>
                <a:pathLst>
                  <a:path h="621432" w="771359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2E5E7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6"/>
                  </a:lnSpc>
                </a:pPr>
              </a:p>
            </p:txBody>
          </p:sp>
        </p:grpSp>
      </p:grpSp>
      <p:sp>
        <p:nvSpPr>
          <p:cNvPr name="TextBox 115" id="115"/>
          <p:cNvSpPr txBox="true"/>
          <p:nvPr/>
        </p:nvSpPr>
        <p:spPr>
          <a:xfrm rot="0">
            <a:off x="663749" y="128922"/>
            <a:ext cx="7316416" cy="392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67"/>
              </a:lnSpc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Th</a:t>
            </a: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 Gap: What’s Missing?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9978479" y="128922"/>
            <a:ext cx="7316416" cy="392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67"/>
              </a:lnSpc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</a:t>
            </a: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ain Objective: AgileSense AI Platform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80697" y="234631"/>
            <a:ext cx="14726606" cy="9817738"/>
          </a:xfrm>
          <a:custGeom>
            <a:avLst/>
            <a:gdLst/>
            <a:ahLst/>
            <a:cxnLst/>
            <a:rect r="r" b="b" t="t" l="l"/>
            <a:pathLst>
              <a:path h="9817738" w="14726606">
                <a:moveTo>
                  <a:pt x="0" y="0"/>
                </a:moveTo>
                <a:lnTo>
                  <a:pt x="14726606" y="0"/>
                </a:lnTo>
                <a:lnTo>
                  <a:pt x="14726606" y="9817738"/>
                </a:lnTo>
                <a:lnTo>
                  <a:pt x="0" y="9817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35411" y="1304953"/>
            <a:ext cx="337208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Component 1: IT22126092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35362" y="3417854"/>
            <a:ext cx="337208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Component 2: IT22136688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21028" y="1304953"/>
            <a:ext cx="346019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Component 3: IT22115348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21028" y="3417854"/>
            <a:ext cx="346019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Component 4: IT22602732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2724" y="1786328"/>
            <a:ext cx="16931208" cy="6701936"/>
          </a:xfrm>
          <a:custGeom>
            <a:avLst/>
            <a:gdLst/>
            <a:ahLst/>
            <a:cxnLst/>
            <a:rect r="r" b="b" t="t" l="l"/>
            <a:pathLst>
              <a:path h="6701936" w="16931208">
                <a:moveTo>
                  <a:pt x="0" y="0"/>
                </a:moveTo>
                <a:lnTo>
                  <a:pt x="16931208" y="0"/>
                </a:lnTo>
                <a:lnTo>
                  <a:pt x="16931208" y="6701937"/>
                </a:lnTo>
                <a:lnTo>
                  <a:pt x="0" y="67019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51345" y="66675"/>
            <a:ext cx="9232860" cy="1518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03"/>
              </a:lnSpc>
            </a:pPr>
            <a:r>
              <a:rPr lang="en-US" b="true" sz="556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AgileSense AI: End-to-End Data Pipeline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53669" y="2747251"/>
            <a:ext cx="2556527" cy="2179070"/>
            <a:chOff x="0" y="0"/>
            <a:chExt cx="1071375" cy="9131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1375" cy="913192"/>
            </a:xfrm>
            <a:custGeom>
              <a:avLst/>
              <a:gdLst/>
              <a:ahLst/>
              <a:cxnLst/>
              <a:rect r="r" b="b" t="t" l="l"/>
              <a:pathLst>
                <a:path h="913192" w="1071375">
                  <a:moveTo>
                    <a:pt x="868175" y="0"/>
                  </a:moveTo>
                  <a:lnTo>
                    <a:pt x="203200" y="0"/>
                  </a:lnTo>
                  <a:lnTo>
                    <a:pt x="0" y="456596"/>
                  </a:lnTo>
                  <a:lnTo>
                    <a:pt x="203200" y="913192"/>
                  </a:lnTo>
                  <a:lnTo>
                    <a:pt x="868175" y="913192"/>
                  </a:lnTo>
                  <a:lnTo>
                    <a:pt x="1071375" y="456596"/>
                  </a:lnTo>
                  <a:lnTo>
                    <a:pt x="868175" y="0"/>
                  </a:ln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52400" y="-47625"/>
              <a:ext cx="766575" cy="960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45302" y="3909248"/>
            <a:ext cx="2556527" cy="2179070"/>
            <a:chOff x="0" y="0"/>
            <a:chExt cx="1071375" cy="9131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1375" cy="913192"/>
            </a:xfrm>
            <a:custGeom>
              <a:avLst/>
              <a:gdLst/>
              <a:ahLst/>
              <a:cxnLst/>
              <a:rect r="r" b="b" t="t" l="l"/>
              <a:pathLst>
                <a:path h="913192" w="1071375">
                  <a:moveTo>
                    <a:pt x="868175" y="0"/>
                  </a:moveTo>
                  <a:lnTo>
                    <a:pt x="203200" y="0"/>
                  </a:lnTo>
                  <a:lnTo>
                    <a:pt x="0" y="456596"/>
                  </a:lnTo>
                  <a:lnTo>
                    <a:pt x="203200" y="913192"/>
                  </a:lnTo>
                  <a:lnTo>
                    <a:pt x="868175" y="913192"/>
                  </a:lnTo>
                  <a:lnTo>
                    <a:pt x="1071375" y="456596"/>
                  </a:lnTo>
                  <a:lnTo>
                    <a:pt x="868175" y="0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52400" y="-47625"/>
              <a:ext cx="766575" cy="960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45302" y="1600566"/>
            <a:ext cx="2556527" cy="2179070"/>
            <a:chOff x="0" y="0"/>
            <a:chExt cx="1071375" cy="9131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1375" cy="913192"/>
            </a:xfrm>
            <a:custGeom>
              <a:avLst/>
              <a:gdLst/>
              <a:ahLst/>
              <a:cxnLst/>
              <a:rect r="r" b="b" t="t" l="l"/>
              <a:pathLst>
                <a:path h="913192" w="1071375">
                  <a:moveTo>
                    <a:pt x="868175" y="0"/>
                  </a:moveTo>
                  <a:lnTo>
                    <a:pt x="203200" y="0"/>
                  </a:lnTo>
                  <a:lnTo>
                    <a:pt x="0" y="456596"/>
                  </a:lnTo>
                  <a:lnTo>
                    <a:pt x="203200" y="913192"/>
                  </a:lnTo>
                  <a:lnTo>
                    <a:pt x="868175" y="913192"/>
                  </a:lnTo>
                  <a:lnTo>
                    <a:pt x="1071375" y="456596"/>
                  </a:lnTo>
                  <a:lnTo>
                    <a:pt x="868175" y="0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52400" y="-47625"/>
              <a:ext cx="766575" cy="960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853669" y="5030618"/>
            <a:ext cx="2556527" cy="2179070"/>
            <a:chOff x="0" y="0"/>
            <a:chExt cx="1071375" cy="9131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1375" cy="913192"/>
            </a:xfrm>
            <a:custGeom>
              <a:avLst/>
              <a:gdLst/>
              <a:ahLst/>
              <a:cxnLst/>
              <a:rect r="r" b="b" t="t" l="l"/>
              <a:pathLst>
                <a:path h="913192" w="1071375">
                  <a:moveTo>
                    <a:pt x="868175" y="0"/>
                  </a:moveTo>
                  <a:lnTo>
                    <a:pt x="203200" y="0"/>
                  </a:lnTo>
                  <a:lnTo>
                    <a:pt x="0" y="456596"/>
                  </a:lnTo>
                  <a:lnTo>
                    <a:pt x="203200" y="913192"/>
                  </a:lnTo>
                  <a:lnTo>
                    <a:pt x="868175" y="913192"/>
                  </a:lnTo>
                  <a:lnTo>
                    <a:pt x="1071375" y="456596"/>
                  </a:lnTo>
                  <a:lnTo>
                    <a:pt x="868175" y="0"/>
                  </a:ln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52400" y="-47625"/>
              <a:ext cx="766575" cy="960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288336" y="5591076"/>
            <a:ext cx="305896" cy="30589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83897" y="1298942"/>
            <a:ext cx="305896" cy="30589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85992" y="6204789"/>
            <a:ext cx="305896" cy="30589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985992" y="1227598"/>
            <a:ext cx="305896" cy="30589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7302046" y="2068582"/>
            <a:ext cx="1243039" cy="1243039"/>
          </a:xfrm>
          <a:custGeom>
            <a:avLst/>
            <a:gdLst/>
            <a:ahLst/>
            <a:cxnLst/>
            <a:rect r="r" b="b" t="t" l="l"/>
            <a:pathLst>
              <a:path h="1243039" w="1243039">
                <a:moveTo>
                  <a:pt x="0" y="0"/>
                </a:moveTo>
                <a:lnTo>
                  <a:pt x="1243039" y="0"/>
                </a:lnTo>
                <a:lnTo>
                  <a:pt x="1243039" y="1243039"/>
                </a:lnTo>
                <a:lnTo>
                  <a:pt x="0" y="1243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605776" y="3087325"/>
            <a:ext cx="1052314" cy="1384623"/>
          </a:xfrm>
          <a:custGeom>
            <a:avLst/>
            <a:gdLst/>
            <a:ahLst/>
            <a:cxnLst/>
            <a:rect r="r" b="b" t="t" l="l"/>
            <a:pathLst>
              <a:path h="1384623" w="1052314">
                <a:moveTo>
                  <a:pt x="0" y="0"/>
                </a:moveTo>
                <a:lnTo>
                  <a:pt x="1052313" y="0"/>
                </a:lnTo>
                <a:lnTo>
                  <a:pt x="1052313" y="1384623"/>
                </a:lnTo>
                <a:lnTo>
                  <a:pt x="0" y="138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456192" y="4406490"/>
            <a:ext cx="934746" cy="1184585"/>
          </a:xfrm>
          <a:custGeom>
            <a:avLst/>
            <a:gdLst/>
            <a:ahLst/>
            <a:cxnLst/>
            <a:rect r="r" b="b" t="t" l="l"/>
            <a:pathLst>
              <a:path h="1184585" w="934746">
                <a:moveTo>
                  <a:pt x="0" y="0"/>
                </a:moveTo>
                <a:lnTo>
                  <a:pt x="934746" y="0"/>
                </a:lnTo>
                <a:lnTo>
                  <a:pt x="934746" y="1184586"/>
                </a:lnTo>
                <a:lnTo>
                  <a:pt x="0" y="11845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566709" y="5530288"/>
            <a:ext cx="1130446" cy="1116059"/>
          </a:xfrm>
          <a:custGeom>
            <a:avLst/>
            <a:gdLst/>
            <a:ahLst/>
            <a:cxnLst/>
            <a:rect r="r" b="b" t="t" l="l"/>
            <a:pathLst>
              <a:path h="1116059" w="1130446">
                <a:moveTo>
                  <a:pt x="0" y="0"/>
                </a:moveTo>
                <a:lnTo>
                  <a:pt x="1130447" y="0"/>
                </a:lnTo>
                <a:lnTo>
                  <a:pt x="1130447" y="1116059"/>
                </a:lnTo>
                <a:lnTo>
                  <a:pt x="0" y="11160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1368706" y="1841855"/>
            <a:ext cx="6919294" cy="3156928"/>
          </a:xfrm>
          <a:custGeom>
            <a:avLst/>
            <a:gdLst/>
            <a:ahLst/>
            <a:cxnLst/>
            <a:rect r="r" b="b" t="t" l="l"/>
            <a:pathLst>
              <a:path h="3156928" w="6919294">
                <a:moveTo>
                  <a:pt x="0" y="0"/>
                </a:moveTo>
                <a:lnTo>
                  <a:pt x="6919294" y="0"/>
                </a:lnTo>
                <a:lnTo>
                  <a:pt x="6919294" y="3156928"/>
                </a:lnTo>
                <a:lnTo>
                  <a:pt x="0" y="315692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376302" y="105255"/>
            <a:ext cx="15535397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Commercialization &amp; Impact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1251317"/>
            <a:ext cx="3129774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Target</a:t>
            </a:r>
            <a:r>
              <a:rPr lang="en-US" b="true" sz="26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Market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12776" y="1819074"/>
            <a:ext cx="5799176" cy="272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Agile Teams:</a:t>
            </a:r>
            <a:r>
              <a:rPr lang="en-US" sz="2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Software firms in Sri Lanka and globally using Jira/Scrum.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Remote-First Tech:</a:t>
            </a:r>
            <a:r>
              <a:rPr lang="en-US" sz="2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Companies relying on MS Teams for virtual collaboration.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Scale:</a:t>
            </a:r>
            <a:r>
              <a:rPr lang="en-US" sz="2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Versatile for High-Growth Startups and Enterprise Engineering divisions.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027615" y="6174043"/>
            <a:ext cx="6102029" cy="389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Emot</a:t>
            </a:r>
            <a:r>
              <a:rPr lang="en-US" b="true" sz="21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ion Engine: </a:t>
            </a:r>
            <a:r>
              <a:rPr lang="en-US" sz="2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First-to-market sentiment tracking to prevent developer burnout.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Sprint </a:t>
            </a:r>
            <a:r>
              <a:rPr lang="en-US" b="true" sz="21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Predictor:</a:t>
            </a:r>
            <a:r>
              <a:rPr lang="en-US" sz="2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Real-time risk forecasting instead of post-sprint reviews.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Ex</a:t>
            </a:r>
            <a:r>
              <a:rPr lang="en-US" b="true" sz="21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pertise Matcher:</a:t>
            </a:r>
            <a:r>
              <a:rPr lang="en-US" sz="2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Data-driven task allocation to maximize resource efficiency.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Inclusivity Bot:</a:t>
            </a:r>
            <a:r>
              <a:rPr lang="en-US" sz="2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Automated support for diverse, structured brainstorming.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712776" y="5182807"/>
            <a:ext cx="6082575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Value Pr</a:t>
            </a:r>
            <a:r>
              <a:rPr lang="en-US" b="true" sz="25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opComponent-Based Value Propositionosition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985992" y="6777385"/>
            <a:ext cx="5894199" cy="272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Phase 1 (Pilot):</a:t>
            </a:r>
            <a:r>
              <a:rPr lang="en-US" sz="2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3-month trial with 2 local Agile squads for data baseline.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Phase 2 (Model Tuning):</a:t>
            </a:r>
            <a:r>
              <a:rPr lang="en-US" sz="2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Refine NLP accuracy using local meeting dynamics.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Phase 3 (SaaS Launch):</a:t>
            </a:r>
            <a:r>
              <a:rPr lang="en-US" sz="2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Tiered subscription model for Colombo-based IT firms.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425238" y="1174794"/>
            <a:ext cx="3167752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Feas</a:t>
            </a:r>
            <a:r>
              <a:rPr lang="en-US" b="true" sz="25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ibility &amp; Cost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425238" y="6143293"/>
            <a:ext cx="3527736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Adoption Stra</a:t>
            </a:r>
            <a:r>
              <a:rPr lang="en-US" b="true" sz="25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tegy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8051" y="2523415"/>
            <a:ext cx="3152142" cy="315214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059269" y="2523415"/>
            <a:ext cx="3152142" cy="315214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9484" r="0" b="-23849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050869" y="2523415"/>
            <a:ext cx="3152142" cy="315214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6747" r="0" b="-16747"/>
              </a:stretch>
            </a:blipFill>
          </p:spPr>
        </p:sp>
      </p:grpSp>
      <p:sp>
        <p:nvSpPr>
          <p:cNvPr name="AutoShape 11" id="11"/>
          <p:cNvSpPr/>
          <p:nvPr/>
        </p:nvSpPr>
        <p:spPr>
          <a:xfrm>
            <a:off x="5897880" y="8681205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8304001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9367593" y="2526305"/>
            <a:ext cx="3152142" cy="315214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6747" r="0" b="-16747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28700" y="599709"/>
            <a:ext cx="99149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Team Members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26680" y="6132682"/>
            <a:ext cx="501732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Vithana P.I.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26680" y="6757320"/>
            <a:ext cx="501732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IT22136688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18280" y="6129792"/>
            <a:ext cx="501732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De Silva M.B.H.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18280" y="6757320"/>
            <a:ext cx="501732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IT22602732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-304538" y="6132682"/>
            <a:ext cx="501732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Fonseka A.A.T.N.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-304538" y="6760210"/>
            <a:ext cx="501732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IT22126092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435004" y="6135572"/>
            <a:ext cx="501732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Amarasinghe C.N.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435004" y="6760210"/>
            <a:ext cx="501732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IT22115348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-304538" y="7308850"/>
            <a:ext cx="501732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Emotion Monitoring System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350273" y="7308850"/>
            <a:ext cx="501732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Sprint Replanning Tracker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661403" y="7308850"/>
            <a:ext cx="5017320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Expertise Recommendation </a:t>
            </a:r>
          </a:p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Engine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13516" y="7308850"/>
            <a:ext cx="5017320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Inclusive Brainstorming </a:t>
            </a:r>
          </a:p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DAHDVdBQCEI</dc:identifier>
  <dcterms:modified xsi:type="dcterms:W3CDTF">2011-08-01T06:04:30Z</dcterms:modified>
  <cp:revision>1</cp:revision>
  <dc:title>PP2 Presentation</dc:title>
</cp:coreProperties>
</file>